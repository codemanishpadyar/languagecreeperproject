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256" r:id="rId2"/>
    <p:sldId id="262" r:id="rId3"/>
    <p:sldId id="270" r:id="rId4"/>
    <p:sldId id="274" r:id="rId5"/>
    <p:sldId id="296" r:id="rId6"/>
    <p:sldId id="267" r:id="rId7"/>
    <p:sldId id="297" r:id="rId8"/>
    <p:sldId id="299" r:id="rId9"/>
    <p:sldId id="261" r:id="rId10"/>
    <p:sldId id="300" r:id="rId11"/>
    <p:sldId id="301" r:id="rId12"/>
    <p:sldId id="263" r:id="rId13"/>
    <p:sldId id="268" r:id="rId14"/>
    <p:sldId id="302" r:id="rId15"/>
    <p:sldId id="303" r:id="rId16"/>
    <p:sldId id="304" r:id="rId17"/>
    <p:sldId id="275" r:id="rId18"/>
  </p:sldIdLst>
  <p:sldSz cx="9144000" cy="5143500" type="screen16x9"/>
  <p:notesSz cx="6858000" cy="9144000"/>
  <p:embeddedFontLst>
    <p:embeddedFont>
      <p:font typeface="Lora" panose="020B0604020202020204" charset="0"/>
      <p:regular r:id="rId20"/>
      <p:bold r:id="rId21"/>
      <p:italic r:id="rId22"/>
      <p:boldItalic r:id="rId23"/>
    </p:embeddedFont>
    <p:embeddedFont>
      <p:font typeface="Roboto Serif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28F8E53-5CDB-4579-BD82-71234351EDBC}">
  <a:tblStyle styleId="{D28F8E53-5CDB-4579-BD82-71234351ED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96C442-5E23-45B3-AA1F-E5352BDBB6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956" y="-7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8423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1bc263f502_0_2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1bc263f502_0_2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a3a623c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a3a623c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1bc263f502_0_2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1bc263f502_0_28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1bc263f502_0_2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1bc263f502_0_2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1bc263f502_0_2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1bc263f502_0_2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a07500d72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a07500d72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>
          <a:extLst>
            <a:ext uri="{FF2B5EF4-FFF2-40B4-BE49-F238E27FC236}">
              <a16:creationId xmlns:a16="http://schemas.microsoft.com/office/drawing/2014/main" xmlns="" id="{4D969076-2AA6-76F2-4F2E-D6560CB7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a07500d72e_0_26:notes">
            <a:extLst>
              <a:ext uri="{FF2B5EF4-FFF2-40B4-BE49-F238E27FC236}">
                <a16:creationId xmlns:a16="http://schemas.microsoft.com/office/drawing/2014/main" xmlns="" id="{3BBEC12A-84F6-C4B0-3311-362059042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a07500d72e_0_26:notes">
            <a:extLst>
              <a:ext uri="{FF2B5EF4-FFF2-40B4-BE49-F238E27FC236}">
                <a16:creationId xmlns:a16="http://schemas.microsoft.com/office/drawing/2014/main" xmlns="" id="{36DB0237-2DBF-E78D-CC42-2875A964A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3969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>
          <a:extLst>
            <a:ext uri="{FF2B5EF4-FFF2-40B4-BE49-F238E27FC236}">
              <a16:creationId xmlns:a16="http://schemas.microsoft.com/office/drawing/2014/main" xmlns="" id="{5187F124-02B4-0231-22B1-C1431501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a07500d72e_0_26:notes">
            <a:extLst>
              <a:ext uri="{FF2B5EF4-FFF2-40B4-BE49-F238E27FC236}">
                <a16:creationId xmlns:a16="http://schemas.microsoft.com/office/drawing/2014/main" xmlns="" id="{2EC24CA4-E6B9-B00C-2BE4-779D763DD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a07500d72e_0_26:notes">
            <a:extLst>
              <a:ext uri="{FF2B5EF4-FFF2-40B4-BE49-F238E27FC236}">
                <a16:creationId xmlns:a16="http://schemas.microsoft.com/office/drawing/2014/main" xmlns="" id="{41ECDDDB-370B-3561-441A-606276994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6368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>
          <a:extLst>
            <a:ext uri="{FF2B5EF4-FFF2-40B4-BE49-F238E27FC236}">
              <a16:creationId xmlns:a16="http://schemas.microsoft.com/office/drawing/2014/main" xmlns="" id="{63D45802-8699-2637-5C3E-E04C0670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a07500d72e_0_26:notes">
            <a:extLst>
              <a:ext uri="{FF2B5EF4-FFF2-40B4-BE49-F238E27FC236}">
                <a16:creationId xmlns:a16="http://schemas.microsoft.com/office/drawing/2014/main" xmlns="" id="{5D6F8821-E966-8CC6-9A29-4B86DBA7B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a07500d72e_0_26:notes">
            <a:extLst>
              <a:ext uri="{FF2B5EF4-FFF2-40B4-BE49-F238E27FC236}">
                <a16:creationId xmlns:a16="http://schemas.microsoft.com/office/drawing/2014/main" xmlns="" id="{2B66E183-5E27-A49B-7C3B-058024711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433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937d054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937d054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bit.ly/2TtBDfr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yoMs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848350" y="-275050"/>
            <a:ext cx="1305000" cy="13050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635050" y="2553875"/>
            <a:ext cx="1305000" cy="13050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24634">
            <a:off x="4208450" y="3252863"/>
            <a:ext cx="5824299" cy="27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0492211">
            <a:off x="81041" y="4494291"/>
            <a:ext cx="676974" cy="58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564100" y="-1050975"/>
            <a:ext cx="3737950" cy="483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175697">
            <a:off x="-215154" y="4718410"/>
            <a:ext cx="752208" cy="64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645441" flipH="1">
            <a:off x="7423638" y="3355899"/>
            <a:ext cx="2357075" cy="200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060684">
            <a:off x="882262" y="4867651"/>
            <a:ext cx="684576" cy="588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20">
            <a:off x="7322581" y="2963524"/>
            <a:ext cx="605563" cy="52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060684">
            <a:off x="8797537" y="2380138"/>
            <a:ext cx="684576" cy="588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0492211">
            <a:off x="8660616" y="-163434"/>
            <a:ext cx="676974" cy="58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175697">
            <a:off x="7963771" y="653672"/>
            <a:ext cx="752208" cy="64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060684">
            <a:off x="7726037" y="-166699"/>
            <a:ext cx="684576" cy="58809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294700" y="597150"/>
            <a:ext cx="5734800" cy="25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1612550" y="3540138"/>
            <a:ext cx="27042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2"/>
          </p:nvPr>
        </p:nvSpPr>
        <p:spPr>
          <a:xfrm>
            <a:off x="1554063" y="2898075"/>
            <a:ext cx="2959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1554063" y="3327623"/>
            <a:ext cx="295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59595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 idx="3"/>
          </p:nvPr>
        </p:nvSpPr>
        <p:spPr>
          <a:xfrm>
            <a:off x="4630128" y="2898075"/>
            <a:ext cx="2959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4"/>
          </p:nvPr>
        </p:nvSpPr>
        <p:spPr>
          <a:xfrm>
            <a:off x="4630128" y="3327623"/>
            <a:ext cx="295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4224452" y="4604112"/>
            <a:ext cx="211293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353098" y="-628175"/>
            <a:ext cx="3069505" cy="397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566234">
            <a:off x="426317" y="4418739"/>
            <a:ext cx="438611" cy="378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6890700" y="834142"/>
            <a:ext cx="4284600" cy="19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354550" y="-584913"/>
            <a:ext cx="4878925" cy="63133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2047950" y="1166225"/>
            <a:ext cx="50481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2047950" y="1873675"/>
            <a:ext cx="50481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 Serif Mediu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2324000" y="1555800"/>
            <a:ext cx="449610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912050" y="1371150"/>
            <a:ext cx="53199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1912050" y="2202450"/>
            <a:ext cx="5319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275359">
            <a:off x="-813733" y="-651884"/>
            <a:ext cx="3825216" cy="1774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10275359" flipH="1">
            <a:off x="6132517" y="-651884"/>
            <a:ext cx="3825216" cy="1774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24641" flipH="1">
            <a:off x="-813733" y="4020466"/>
            <a:ext cx="3825216" cy="1774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24641">
            <a:off x="6132517" y="4020466"/>
            <a:ext cx="3825216" cy="177491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2"/>
          </p:nvPr>
        </p:nvSpPr>
        <p:spPr>
          <a:xfrm>
            <a:off x="1063988" y="1942150"/>
            <a:ext cx="1810500" cy="9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3"/>
          </p:nvPr>
        </p:nvSpPr>
        <p:spPr>
          <a:xfrm>
            <a:off x="3666817" y="1942150"/>
            <a:ext cx="1810500" cy="9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4"/>
          </p:nvPr>
        </p:nvSpPr>
        <p:spPr>
          <a:xfrm>
            <a:off x="1063988" y="3485200"/>
            <a:ext cx="1810500" cy="9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5"/>
          </p:nvPr>
        </p:nvSpPr>
        <p:spPr>
          <a:xfrm>
            <a:off x="3666817" y="3485200"/>
            <a:ext cx="1810500" cy="9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6" hasCustomPrompt="1"/>
          </p:nvPr>
        </p:nvSpPr>
        <p:spPr>
          <a:xfrm>
            <a:off x="1567100" y="1437925"/>
            <a:ext cx="804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7" hasCustomPrompt="1"/>
          </p:nvPr>
        </p:nvSpPr>
        <p:spPr>
          <a:xfrm>
            <a:off x="1567100" y="2980975"/>
            <a:ext cx="804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8" hasCustomPrompt="1"/>
          </p:nvPr>
        </p:nvSpPr>
        <p:spPr>
          <a:xfrm>
            <a:off x="4169930" y="1437925"/>
            <a:ext cx="804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9" hasCustomPrompt="1"/>
          </p:nvPr>
        </p:nvSpPr>
        <p:spPr>
          <a:xfrm>
            <a:off x="4169917" y="2980975"/>
            <a:ext cx="804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13"/>
          </p:nvPr>
        </p:nvSpPr>
        <p:spPr>
          <a:xfrm>
            <a:off x="6269659" y="1942150"/>
            <a:ext cx="1810500" cy="9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4"/>
          </p:nvPr>
        </p:nvSpPr>
        <p:spPr>
          <a:xfrm>
            <a:off x="6269659" y="3485200"/>
            <a:ext cx="1810500" cy="9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15" hasCustomPrompt="1"/>
          </p:nvPr>
        </p:nvSpPr>
        <p:spPr>
          <a:xfrm>
            <a:off x="6772773" y="1437925"/>
            <a:ext cx="804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6" hasCustomPrompt="1"/>
          </p:nvPr>
        </p:nvSpPr>
        <p:spPr>
          <a:xfrm>
            <a:off x="6772761" y="2980975"/>
            <a:ext cx="804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7504500" y="3868675"/>
            <a:ext cx="2130300" cy="21303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1796427" y="-987048"/>
            <a:ext cx="2647000" cy="22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2090">
            <a:off x="7943494" y="4749821"/>
            <a:ext cx="750585" cy="648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760825" y="4021513"/>
            <a:ext cx="454700" cy="39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/>
          <p:nvPr/>
        </p:nvSpPr>
        <p:spPr>
          <a:xfrm>
            <a:off x="-829875" y="1936425"/>
            <a:ext cx="1779900" cy="17799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7876750" y="-635325"/>
            <a:ext cx="1779900" cy="17799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9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7675575" y="1257675"/>
            <a:ext cx="2249100" cy="22491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-411150" y="3553200"/>
            <a:ext cx="2249100" cy="22491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1337812" y="2133162"/>
            <a:ext cx="3905250" cy="25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212252">
            <a:off x="8059198" y="-660950"/>
            <a:ext cx="2169250" cy="184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732090">
            <a:off x="-104043" y="145721"/>
            <a:ext cx="750585" cy="648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751300" y="1716463"/>
            <a:ext cx="454700" cy="39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subTitle" idx="1"/>
          </p:nvPr>
        </p:nvSpPr>
        <p:spPr>
          <a:xfrm>
            <a:off x="5786200" y="2722525"/>
            <a:ext cx="24957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5786200" y="1429525"/>
            <a:ext cx="24957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_1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title" idx="2"/>
          </p:nvPr>
        </p:nvSpPr>
        <p:spPr>
          <a:xfrm>
            <a:off x="713400" y="2901890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713400" y="3331439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 idx="3"/>
          </p:nvPr>
        </p:nvSpPr>
        <p:spPr>
          <a:xfrm>
            <a:off x="3369386" y="2901890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4"/>
          </p:nvPr>
        </p:nvSpPr>
        <p:spPr>
          <a:xfrm>
            <a:off x="3369375" y="3331441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title" idx="5"/>
          </p:nvPr>
        </p:nvSpPr>
        <p:spPr>
          <a:xfrm>
            <a:off x="6025372" y="2901890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subTitle" idx="6"/>
          </p:nvPr>
        </p:nvSpPr>
        <p:spPr>
          <a:xfrm>
            <a:off x="6025368" y="3331441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59595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4151700" y="4373500"/>
            <a:ext cx="2130300" cy="21303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-484050" y="1448875"/>
            <a:ext cx="1526100" cy="15261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767300" y="-966025"/>
            <a:ext cx="2781300" cy="27813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6282002" y="-618900"/>
            <a:ext cx="3069505" cy="397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186827" y="-129798"/>
            <a:ext cx="2647000" cy="22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732090">
            <a:off x="3404594" y="4677696"/>
            <a:ext cx="750585" cy="648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274550" y="4507288"/>
            <a:ext cx="454700" cy="39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1_1_1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title" idx="2"/>
          </p:nvPr>
        </p:nvSpPr>
        <p:spPr>
          <a:xfrm>
            <a:off x="2262575" y="1462250"/>
            <a:ext cx="2246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subTitle" idx="1"/>
          </p:nvPr>
        </p:nvSpPr>
        <p:spPr>
          <a:xfrm>
            <a:off x="2262575" y="1891797"/>
            <a:ext cx="22461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 idx="3"/>
          </p:nvPr>
        </p:nvSpPr>
        <p:spPr>
          <a:xfrm>
            <a:off x="5788119" y="1462250"/>
            <a:ext cx="2246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subTitle" idx="4"/>
          </p:nvPr>
        </p:nvSpPr>
        <p:spPr>
          <a:xfrm>
            <a:off x="5788121" y="1891798"/>
            <a:ext cx="22461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 idx="5"/>
          </p:nvPr>
        </p:nvSpPr>
        <p:spPr>
          <a:xfrm>
            <a:off x="2262575" y="3212028"/>
            <a:ext cx="2246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6"/>
          </p:nvPr>
        </p:nvSpPr>
        <p:spPr>
          <a:xfrm>
            <a:off x="2262575" y="3641575"/>
            <a:ext cx="22461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title" idx="7"/>
          </p:nvPr>
        </p:nvSpPr>
        <p:spPr>
          <a:xfrm>
            <a:off x="5788119" y="3212028"/>
            <a:ext cx="2246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subTitle" idx="8"/>
          </p:nvPr>
        </p:nvSpPr>
        <p:spPr>
          <a:xfrm>
            <a:off x="5788121" y="3641576"/>
            <a:ext cx="22461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title" idx="9" hasCustomPrompt="1"/>
          </p:nvPr>
        </p:nvSpPr>
        <p:spPr>
          <a:xfrm>
            <a:off x="1179425" y="1677023"/>
            <a:ext cx="9339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6" name="Google Shape;156;p19"/>
          <p:cNvSpPr txBox="1">
            <a:spLocks noGrp="1"/>
          </p:cNvSpPr>
          <p:nvPr>
            <p:ph type="title" idx="13" hasCustomPrompt="1"/>
          </p:nvPr>
        </p:nvSpPr>
        <p:spPr>
          <a:xfrm>
            <a:off x="4705563" y="1677473"/>
            <a:ext cx="932700" cy="6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7" name="Google Shape;157;p19"/>
          <p:cNvSpPr txBox="1">
            <a:spLocks noGrp="1"/>
          </p:cNvSpPr>
          <p:nvPr>
            <p:ph type="title" idx="14" hasCustomPrompt="1"/>
          </p:nvPr>
        </p:nvSpPr>
        <p:spPr>
          <a:xfrm>
            <a:off x="1180025" y="3427251"/>
            <a:ext cx="932700" cy="6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8" name="Google Shape;158;p19"/>
          <p:cNvSpPr txBox="1">
            <a:spLocks noGrp="1"/>
          </p:cNvSpPr>
          <p:nvPr>
            <p:ph type="title" idx="15" hasCustomPrompt="1"/>
          </p:nvPr>
        </p:nvSpPr>
        <p:spPr>
          <a:xfrm>
            <a:off x="4705563" y="3427251"/>
            <a:ext cx="932700" cy="6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9"/>
          <p:cNvSpPr/>
          <p:nvPr/>
        </p:nvSpPr>
        <p:spPr>
          <a:xfrm>
            <a:off x="8231125" y="2519000"/>
            <a:ext cx="2511600" cy="25116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957066" flipH="1">
            <a:off x="8515402" y="4063373"/>
            <a:ext cx="444632" cy="405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8838975" y="-673363"/>
            <a:ext cx="3254625" cy="42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-1232600" y="-635325"/>
            <a:ext cx="2511600" cy="25116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 flipH="1">
            <a:off x="-2237875" y="1762579"/>
            <a:ext cx="4284600" cy="19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497771" flipH="1">
            <a:off x="942425" y="-197587"/>
            <a:ext cx="937096" cy="809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title" idx="2"/>
          </p:nvPr>
        </p:nvSpPr>
        <p:spPr>
          <a:xfrm>
            <a:off x="713400" y="3343250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subTitle" idx="1"/>
          </p:nvPr>
        </p:nvSpPr>
        <p:spPr>
          <a:xfrm>
            <a:off x="713400" y="3772799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title" idx="3"/>
          </p:nvPr>
        </p:nvSpPr>
        <p:spPr>
          <a:xfrm>
            <a:off x="3369386" y="3343250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subTitle" idx="4"/>
          </p:nvPr>
        </p:nvSpPr>
        <p:spPr>
          <a:xfrm>
            <a:off x="3369375" y="3772800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title" idx="5"/>
          </p:nvPr>
        </p:nvSpPr>
        <p:spPr>
          <a:xfrm>
            <a:off x="6025372" y="3343250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subTitle" idx="6"/>
          </p:nvPr>
        </p:nvSpPr>
        <p:spPr>
          <a:xfrm>
            <a:off x="6025372" y="3772800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title" idx="7"/>
          </p:nvPr>
        </p:nvSpPr>
        <p:spPr>
          <a:xfrm>
            <a:off x="713400" y="16893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ubTitle" idx="8"/>
          </p:nvPr>
        </p:nvSpPr>
        <p:spPr>
          <a:xfrm>
            <a:off x="713400" y="2118924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title" idx="9"/>
          </p:nvPr>
        </p:nvSpPr>
        <p:spPr>
          <a:xfrm>
            <a:off x="3369386" y="16893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subTitle" idx="13"/>
          </p:nvPr>
        </p:nvSpPr>
        <p:spPr>
          <a:xfrm>
            <a:off x="3369375" y="2118925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title" idx="14"/>
          </p:nvPr>
        </p:nvSpPr>
        <p:spPr>
          <a:xfrm>
            <a:off x="6025372" y="16893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5"/>
          </p:nvPr>
        </p:nvSpPr>
        <p:spPr>
          <a:xfrm>
            <a:off x="6025372" y="2118925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9382892" flipH="1">
            <a:off x="6541688" y="-1519803"/>
            <a:ext cx="4182776" cy="271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78350" y="-661071"/>
            <a:ext cx="4284600" cy="19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311698">
            <a:off x="8298529" y="4497962"/>
            <a:ext cx="490275" cy="421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63241">
            <a:off x="670348" y="4564201"/>
            <a:ext cx="886802" cy="80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968161">
            <a:off x="48311" y="3767372"/>
            <a:ext cx="496228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63241">
            <a:off x="8747823" y="2668926"/>
            <a:ext cx="886802" cy="80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2108200" y="779575"/>
            <a:ext cx="4927500" cy="9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>
            <a:endParaRPr/>
          </a:p>
        </p:txBody>
      </p:sp>
      <p:sp>
        <p:nvSpPr>
          <p:cNvPr id="187" name="Google Shape;187;p21"/>
          <p:cNvSpPr txBox="1">
            <a:spLocks noGrp="1"/>
          </p:cNvSpPr>
          <p:nvPr>
            <p:ph type="title" idx="2"/>
          </p:nvPr>
        </p:nvSpPr>
        <p:spPr>
          <a:xfrm>
            <a:off x="2693650" y="1733863"/>
            <a:ext cx="3757800" cy="11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7456863" y="2625725"/>
            <a:ext cx="3318600" cy="33186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38352" y="1972388"/>
            <a:ext cx="3069505" cy="397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276225" y="2983325"/>
            <a:ext cx="4182775" cy="27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73638" flipH="1">
            <a:off x="6582587" y="-387221"/>
            <a:ext cx="4284600" cy="198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473638">
            <a:off x="-1723188" y="-387221"/>
            <a:ext cx="4284600" cy="198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-1210412" y="-641850"/>
            <a:ext cx="3318600" cy="33186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749425" y="3655800"/>
            <a:ext cx="57765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Serif"/>
                <a:ea typeface="Roboto Serif"/>
                <a:cs typeface="Roboto Serif"/>
                <a:sym typeface="Roboto Serif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Serif"/>
                <a:ea typeface="Roboto Serif"/>
                <a:cs typeface="Roboto Serif"/>
                <a:sym typeface="Roboto Serif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Serif"/>
                <a:ea typeface="Roboto Serif"/>
                <a:cs typeface="Roboto Serif"/>
                <a:sym typeface="Roboto Serif"/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endParaRPr sz="1200" b="1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8231125" y="2519000"/>
            <a:ext cx="2511600" cy="25116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957066" flipH="1">
            <a:off x="8515402" y="4063373"/>
            <a:ext cx="444632" cy="405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8838975" y="-673363"/>
            <a:ext cx="3254625" cy="42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 flipH="1">
            <a:off x="-1534750" y="2671400"/>
            <a:ext cx="2511600" cy="25116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957066">
            <a:off x="247942" y="4215773"/>
            <a:ext cx="444632" cy="405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2885625" y="-520963"/>
            <a:ext cx="3254625" cy="42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/>
          <p:nvPr/>
        </p:nvSpPr>
        <p:spPr>
          <a:xfrm>
            <a:off x="-1198300" y="1991050"/>
            <a:ext cx="2781300" cy="27813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" name="Google Shape;204;p23"/>
          <p:cNvGrpSpPr/>
          <p:nvPr/>
        </p:nvGrpSpPr>
        <p:grpSpPr>
          <a:xfrm flipH="1">
            <a:off x="-924725" y="2497626"/>
            <a:ext cx="3276274" cy="2945950"/>
            <a:chOff x="6554275" y="2345226"/>
            <a:chExt cx="3276274" cy="2945950"/>
          </a:xfrm>
        </p:grpSpPr>
        <p:pic>
          <p:nvPicPr>
            <p:cNvPr id="205" name="Google Shape;205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645442" flipH="1">
              <a:off x="7156424" y="2632274"/>
              <a:ext cx="2783850" cy="2371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8100008">
              <a:off x="6675305" y="4150038"/>
              <a:ext cx="761015" cy="657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9060684">
              <a:off x="7485512" y="3677426"/>
              <a:ext cx="684576" cy="5880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" name="Google Shape;208;p23"/>
          <p:cNvSpPr/>
          <p:nvPr/>
        </p:nvSpPr>
        <p:spPr>
          <a:xfrm>
            <a:off x="6767300" y="-966025"/>
            <a:ext cx="2781300" cy="27813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 flipH="1">
            <a:off x="6282002" y="-618900"/>
            <a:ext cx="3069505" cy="3971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●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○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■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●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○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■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●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○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rif"/>
              <a:buChar char="■"/>
              <a:defRPr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>
            <a:spLocks noGrp="1"/>
          </p:cNvSpPr>
          <p:nvPr>
            <p:ph type="ctrTitle"/>
          </p:nvPr>
        </p:nvSpPr>
        <p:spPr>
          <a:xfrm>
            <a:off x="1294700" y="597150"/>
            <a:ext cx="5734800" cy="25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1">
                    <a:lumMod val="75000"/>
                  </a:schemeClr>
                </a:solidFill>
              </a:rPr>
              <a:t>LANGUAGUE </a:t>
            </a:r>
            <a:br>
              <a:rPr lang="en" sz="6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" sz="6000" dirty="0">
                <a:solidFill>
                  <a:schemeClr val="accent1">
                    <a:lumMod val="75000"/>
                  </a:schemeClr>
                </a:solidFill>
              </a:rPr>
              <a:t>CREEPER </a:t>
            </a:r>
            <a:endParaRPr sz="6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2" name="Google Shape;222;p27"/>
          <p:cNvSpPr txBox="1">
            <a:spLocks noGrp="1"/>
          </p:cNvSpPr>
          <p:nvPr>
            <p:ph type="subTitle" idx="1"/>
          </p:nvPr>
        </p:nvSpPr>
        <p:spPr>
          <a:xfrm>
            <a:off x="1160718" y="2782800"/>
            <a:ext cx="3482719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23" name="Google Shape;2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50" y="847575"/>
            <a:ext cx="571150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/>
        </p:nvSpPr>
        <p:spPr>
          <a:xfrm>
            <a:off x="7229475" y="597150"/>
            <a:ext cx="2781300" cy="27813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C66A384-5E39-A288-2459-97BB89F4B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431" y="1874700"/>
            <a:ext cx="2195044" cy="219504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 prst="angle"/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/>
          <p:nvPr/>
        </p:nvSpPr>
        <p:spPr>
          <a:xfrm>
            <a:off x="1379550" y="1740185"/>
            <a:ext cx="1073100" cy="930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3"/>
          <p:cNvSpPr/>
          <p:nvPr/>
        </p:nvSpPr>
        <p:spPr>
          <a:xfrm>
            <a:off x="3987772" y="1740185"/>
            <a:ext cx="1073100" cy="930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9" name="Google Shape;329;p33"/>
          <p:cNvSpPr/>
          <p:nvPr/>
        </p:nvSpPr>
        <p:spPr>
          <a:xfrm>
            <a:off x="6595994" y="1740185"/>
            <a:ext cx="1073100" cy="930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2"/>
          </p:nvPr>
        </p:nvSpPr>
        <p:spPr>
          <a:xfrm>
            <a:off x="761153" y="2803739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Purpose</a:t>
            </a:r>
            <a:r>
              <a:rPr lang="en" dirty="0"/>
              <a:t> </a:t>
            </a:r>
            <a:endParaRPr dirty="0"/>
          </a:p>
        </p:txBody>
      </p:sp>
      <p:sp>
        <p:nvSpPr>
          <p:cNvPr id="332" name="Google Shape;332;p33"/>
          <p:cNvSpPr txBox="1">
            <a:spLocks noGrp="1"/>
          </p:cNvSpPr>
          <p:nvPr>
            <p:ph type="subTitle" idx="1"/>
          </p:nvPr>
        </p:nvSpPr>
        <p:spPr>
          <a:xfrm>
            <a:off x="713400" y="3331439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platform to learn programming languages interactively 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3"/>
          </p:nvPr>
        </p:nvSpPr>
        <p:spPr>
          <a:xfrm>
            <a:off x="3369375" y="2795991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>
                    <a:lumMod val="75000"/>
                  </a:schemeClr>
                </a:solidFill>
              </a:rPr>
              <a:t>Target Audience </a:t>
            </a:r>
            <a:endParaRPr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4"/>
          </p:nvPr>
        </p:nvSpPr>
        <p:spPr>
          <a:xfrm>
            <a:off x="3321622" y="3323691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Beginners and intermediate learners interested in coding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5" name="Google Shape;335;p33"/>
          <p:cNvSpPr txBox="1">
            <a:spLocks noGrp="1"/>
          </p:cNvSpPr>
          <p:nvPr>
            <p:ph type="title" idx="5"/>
          </p:nvPr>
        </p:nvSpPr>
        <p:spPr>
          <a:xfrm>
            <a:off x="6025368" y="283059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Ideology 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6"/>
          </p:nvPr>
        </p:nvSpPr>
        <p:spPr>
          <a:xfrm>
            <a:off x="6025368" y="3331441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Designed to make learning coding fun , ensuring a enjoyable experience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37" name="Google Shape;3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1402917" y="557684"/>
            <a:ext cx="496226" cy="42875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/>
          <p:nvPr/>
        </p:nvSpPr>
        <p:spPr>
          <a:xfrm>
            <a:off x="1754037" y="1944717"/>
            <a:ext cx="448047" cy="448047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chemeClr val="dk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DF3ECC3-A319-37B1-0C45-60B3C3090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780" y="2003502"/>
            <a:ext cx="519363" cy="4257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391322A-5386-CB4E-C25E-9F834C62B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170" y="2003502"/>
            <a:ext cx="407461" cy="429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82050">
            <a:off x="6757888" y="1318998"/>
            <a:ext cx="684577" cy="588096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1"/>
          <p:cNvSpPr/>
          <p:nvPr/>
        </p:nvSpPr>
        <p:spPr>
          <a:xfrm>
            <a:off x="831975" y="1657350"/>
            <a:ext cx="1527600" cy="13239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Login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O</a:t>
            </a:r>
            <a:r>
              <a:rPr lang="en" sz="1600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 Signup</a:t>
            </a:r>
            <a:endParaRPr sz="1600" dirty="0">
              <a:solidFill>
                <a:schemeClr val="tx2">
                  <a:lumMod val="75000"/>
                </a:schemeClr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2815450" y="1657350"/>
            <a:ext cx="1527600" cy="13239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Select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language</a:t>
            </a:r>
            <a:endParaRPr sz="1600" dirty="0">
              <a:solidFill>
                <a:schemeClr val="tx2">
                  <a:lumMod val="75000"/>
                </a:schemeClr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4799000" y="1657350"/>
            <a:ext cx="1527600" cy="13239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Learn with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Guide &amp; Flashcard</a:t>
            </a:r>
            <a:endParaRPr dirty="0">
              <a:solidFill>
                <a:schemeClr val="tx2">
                  <a:lumMod val="75000"/>
                </a:schemeClr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6782550" y="1657350"/>
            <a:ext cx="1527600" cy="13239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75000"/>
                  </a:schemeClr>
                </a:solidFill>
                <a:latin typeface="Lora"/>
                <a:ea typeface="Lora"/>
                <a:cs typeface="Lora"/>
                <a:sym typeface="Lora"/>
              </a:rPr>
              <a:t>Test yourself with Quiz and Games</a:t>
            </a:r>
            <a:endParaRPr dirty="0">
              <a:solidFill>
                <a:schemeClr val="tx2">
                  <a:lumMod val="75000"/>
                </a:schemeClr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33" name="Google Shape;533;p4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Process 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34" name="Google Shape;534;p41"/>
          <p:cNvCxnSpPr>
            <a:cxnSpLocks/>
            <a:stCxn id="530" idx="0"/>
            <a:endCxn id="531" idx="3"/>
          </p:cNvCxnSpPr>
          <p:nvPr/>
        </p:nvCxnSpPr>
        <p:spPr>
          <a:xfrm>
            <a:off x="4343050" y="2319300"/>
            <a:ext cx="455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5" name="Google Shape;535;p41"/>
          <p:cNvCxnSpPr>
            <a:cxnSpLocks/>
            <a:stCxn id="529" idx="0"/>
            <a:endCxn id="530" idx="3"/>
          </p:cNvCxnSpPr>
          <p:nvPr/>
        </p:nvCxnSpPr>
        <p:spPr>
          <a:xfrm>
            <a:off x="2359575" y="2319300"/>
            <a:ext cx="4558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41"/>
          <p:cNvCxnSpPr>
            <a:cxnSpLocks/>
            <a:stCxn id="531" idx="0"/>
            <a:endCxn id="532" idx="3"/>
          </p:cNvCxnSpPr>
          <p:nvPr/>
        </p:nvCxnSpPr>
        <p:spPr>
          <a:xfrm>
            <a:off x="6326600" y="2319300"/>
            <a:ext cx="45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45" name="Google Shape;54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07">
            <a:off x="460330" y="3290328"/>
            <a:ext cx="913227" cy="789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060684">
            <a:off x="4181149" y="2533876"/>
            <a:ext cx="684576" cy="588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45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-1329" b="18620"/>
          <a:stretch/>
        </p:blipFill>
        <p:spPr>
          <a:xfrm>
            <a:off x="326895" y="537687"/>
            <a:ext cx="2343993" cy="4240053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613" name="Google Shape;613;p45"/>
          <p:cNvSpPr/>
          <p:nvPr/>
        </p:nvSpPr>
        <p:spPr>
          <a:xfrm>
            <a:off x="7205950" y="-484625"/>
            <a:ext cx="2230200" cy="22302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5"/>
          <p:cNvSpPr txBox="1">
            <a:spLocks noGrp="1"/>
          </p:cNvSpPr>
          <p:nvPr>
            <p:ph type="subTitle" idx="1"/>
          </p:nvPr>
        </p:nvSpPr>
        <p:spPr>
          <a:xfrm>
            <a:off x="5348485" y="2067286"/>
            <a:ext cx="3714930" cy="3445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Simple and user-friendly login interface for easy access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Allows users to create accounts and save progress.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Seamless navigation to the main learning sections after login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15" name="Google Shape;615;p45"/>
          <p:cNvSpPr txBox="1">
            <a:spLocks noGrp="1"/>
          </p:cNvSpPr>
          <p:nvPr>
            <p:ph type="title"/>
          </p:nvPr>
        </p:nvSpPr>
        <p:spPr>
          <a:xfrm>
            <a:off x="5640799" y="807712"/>
            <a:ext cx="24957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Login &amp; Accessibility Page</a:t>
            </a:r>
            <a:endParaRPr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16" name="Google Shape;61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3098" y="225675"/>
            <a:ext cx="886802" cy="80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188137">
            <a:off x="-271176" y="-412783"/>
            <a:ext cx="4175591" cy="2372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3137946" flipH="1">
            <a:off x="4713071" y="3889578"/>
            <a:ext cx="1431334" cy="131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34BB4DF-13C0-BDC2-738A-B3F7DFFE01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612" t="4387" b="9023"/>
          <a:stretch/>
        </p:blipFill>
        <p:spPr>
          <a:xfrm>
            <a:off x="2827865" y="601749"/>
            <a:ext cx="2230200" cy="42902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02036A-6AB5-6A7B-34D3-308BE31A6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65" y="1435192"/>
            <a:ext cx="5048100" cy="740700"/>
          </a:xfrm>
        </p:spPr>
        <p:txBody>
          <a:bodyPr/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Language Selection Screen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A0AF14F-E150-C693-DE6B-90D0C8594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306" y="2051906"/>
            <a:ext cx="4709311" cy="21036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Users can choose from multiple programming languages: Java, Python, C++, C, HTML, JavaScript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Clean and simple UI for easy navigation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Provides a structured learning path for each language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52FE73D-CF1B-3221-B251-E1243CD1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05" b="15137"/>
          <a:stretch/>
        </p:blipFill>
        <p:spPr>
          <a:xfrm>
            <a:off x="5956433" y="327520"/>
            <a:ext cx="2583133" cy="44884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383A6F0-0757-0BCA-F1DB-578C32CED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790" y="3961489"/>
            <a:ext cx="1097375" cy="1048603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434" y="327520"/>
            <a:ext cx="2583132" cy="448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5163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"/>
          <p:cNvSpPr txBox="1">
            <a:spLocks noGrp="1"/>
          </p:cNvSpPr>
          <p:nvPr>
            <p:ph type="title"/>
          </p:nvPr>
        </p:nvSpPr>
        <p:spPr>
          <a:xfrm>
            <a:off x="806576" y="506100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Main Page </a:t>
            </a:r>
            <a:r>
              <a:rPr lang="en" dirty="0"/>
              <a:t/>
            </a:r>
            <a:br>
              <a:rPr lang="en" dirty="0"/>
            </a:br>
            <a:endParaRPr dirty="0"/>
          </a:p>
        </p:txBody>
      </p:sp>
      <p:sp>
        <p:nvSpPr>
          <p:cNvPr id="457" name="Google Shape;457;p38"/>
          <p:cNvSpPr txBox="1"/>
          <p:nvPr/>
        </p:nvSpPr>
        <p:spPr>
          <a:xfrm>
            <a:off x="713275" y="4357475"/>
            <a:ext cx="771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713275" y="1576825"/>
            <a:ext cx="247200" cy="24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63" name="Google Shape;4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100007">
            <a:off x="4208713" y="43993"/>
            <a:ext cx="913227" cy="789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060716">
            <a:off x="7208957" y="4134281"/>
            <a:ext cx="846150" cy="726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B787C40-9573-ED29-EE9C-394F55BA7E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66" b="10972"/>
          <a:stretch/>
        </p:blipFill>
        <p:spPr>
          <a:xfrm>
            <a:off x="4718288" y="432025"/>
            <a:ext cx="2314575" cy="436483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2624043-F684-02FD-927A-7DE9B03AD319}"/>
              </a:ext>
            </a:extLst>
          </p:cNvPr>
          <p:cNvSpPr txBox="1"/>
          <p:nvPr/>
        </p:nvSpPr>
        <p:spPr>
          <a:xfrm>
            <a:off x="1074419" y="1453224"/>
            <a:ext cx="3436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This displays all the   activities in the app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Lora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269FAD-0D9C-0ECC-E391-31C829D0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071" y="771213"/>
            <a:ext cx="4358640" cy="597762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Guides 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1F998B22-695A-185B-AB2B-79B720B4E38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A82BFB76-883E-DFC4-B9F0-4534BADC8A59}"/>
              </a:ext>
            </a:extLst>
          </p:cNvPr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050EAB0D-7A4F-83A9-2642-A1CEAC12B0D2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B48495D5-B749-76AA-BDC4-70BD0AC92FA7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6DD5D262-A7AF-023D-A10C-00E531703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82" b="11185"/>
          <a:stretch/>
        </p:blipFill>
        <p:spPr>
          <a:xfrm>
            <a:off x="1352242" y="445025"/>
            <a:ext cx="2314575" cy="42862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65F62E3-95F9-300C-05F6-46A9246F7E85}"/>
              </a:ext>
            </a:extLst>
          </p:cNvPr>
          <p:cNvSpPr txBox="1"/>
          <p:nvPr/>
        </p:nvSpPr>
        <p:spPr>
          <a:xfrm>
            <a:off x="8430774" y="4610100"/>
            <a:ext cx="179825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xmlns="" id="{19514766-7395-2895-DE67-C11CD2060FAC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-458258" y="3140625"/>
            <a:ext cx="1810500" cy="9015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xmlns="" id="{18AB5050-5F84-F17D-F6CB-FD1E2C64D3BD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-1470937" y="2530225"/>
            <a:ext cx="1810500" cy="9015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04DA95A-0392-F361-712F-E0A3C9BA8C62}"/>
              </a:ext>
            </a:extLst>
          </p:cNvPr>
          <p:cNvSpPr txBox="1"/>
          <p:nvPr/>
        </p:nvSpPr>
        <p:spPr>
          <a:xfrm>
            <a:off x="3817620" y="1516380"/>
            <a:ext cx="39741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Lora" pitchFamily="2" charset="0"/>
              </a:rPr>
              <a:t>Users can explore the language basics through categorized guides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Lora" pitchFamily="2" charset="0"/>
              </a:rPr>
              <a:t>Interactive learning with step-by-step guidance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Lora" pitchFamily="2" charset="0"/>
              </a:rPr>
              <a:t>Ensures fundamental understanding before moving to advanced topics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532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25B6473-BF78-2ED0-5097-F6C5DFE21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418" y="266541"/>
            <a:ext cx="2314575" cy="3876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9AF031A-E78E-AEF4-2DD3-5260911027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93" b="22411"/>
          <a:stretch/>
        </p:blipFill>
        <p:spPr>
          <a:xfrm>
            <a:off x="5013007" y="277971"/>
            <a:ext cx="2314575" cy="375454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D390516-051E-0FAA-7643-2EC3B06677E9}"/>
              </a:ext>
            </a:extLst>
          </p:cNvPr>
          <p:cNvSpPr txBox="1"/>
          <p:nvPr/>
        </p:nvSpPr>
        <p:spPr>
          <a:xfrm>
            <a:off x="1472565" y="4161733"/>
            <a:ext cx="300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Subtopics in </a:t>
            </a:r>
          </a:p>
          <a:p>
            <a:pPr algn="ctr"/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Guides</a:t>
            </a:r>
            <a:endParaRPr lang="en-IN" sz="1800" dirty="0">
              <a:solidFill>
                <a:schemeClr val="accent1">
                  <a:lumMod val="75000"/>
                </a:schemeClr>
              </a:solidFill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1315CF1-DBC5-A332-538B-C86C6ACD0048}"/>
              </a:ext>
            </a:extLst>
          </p:cNvPr>
          <p:cNvSpPr txBox="1"/>
          <p:nvPr/>
        </p:nvSpPr>
        <p:spPr>
          <a:xfrm>
            <a:off x="4874894" y="4142683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Explanation of the</a:t>
            </a:r>
          </a:p>
          <a:p>
            <a:pPr algn="ctr"/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 Sub Topics </a:t>
            </a:r>
            <a:endParaRPr lang="en-IN" sz="1800" dirty="0">
              <a:solidFill>
                <a:schemeClr val="accent1">
                  <a:lumMod val="75000"/>
                </a:schemeClr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8956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/>
          <p:nvPr/>
        </p:nvSpPr>
        <p:spPr>
          <a:xfrm>
            <a:off x="7144850" y="437525"/>
            <a:ext cx="2781300" cy="2781300"/>
          </a:xfrm>
          <a:prstGeom prst="star8">
            <a:avLst>
              <a:gd name="adj" fmla="val 375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2"/>
          <p:cNvSpPr txBox="1">
            <a:spLocks noGrp="1"/>
          </p:cNvSpPr>
          <p:nvPr>
            <p:ph type="title"/>
          </p:nvPr>
        </p:nvSpPr>
        <p:spPr>
          <a:xfrm>
            <a:off x="713275" y="805590"/>
            <a:ext cx="4209245" cy="675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 Quiz Feature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21" name="Google Shape;3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375" y="3359278"/>
            <a:ext cx="454700" cy="39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002484" flipH="1">
            <a:off x="8309060" y="4171818"/>
            <a:ext cx="684576" cy="58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7AE6610-1FDF-C121-45D8-B98BD5CC2F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78" b="3704"/>
          <a:stretch/>
        </p:blipFill>
        <p:spPr>
          <a:xfrm>
            <a:off x="5760425" y="139828"/>
            <a:ext cx="2314575" cy="46558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28340FA-2EEF-99B4-1554-25F6918BFEE4}"/>
              </a:ext>
            </a:extLst>
          </p:cNvPr>
          <p:cNvSpPr txBox="1"/>
          <p:nvPr/>
        </p:nvSpPr>
        <p:spPr>
          <a:xfrm>
            <a:off x="873295" y="1631471"/>
            <a:ext cx="38892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25000"/>
                  </a:schemeClr>
                </a:solidFill>
              </a:rPr>
              <a:t>Helps users test their knowledge with multiple-choice questions.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25000"/>
                  </a:schemeClr>
                </a:solidFill>
              </a:rPr>
              <a:t>Tracks progress with a score counter </a:t>
            </a:r>
          </a:p>
          <a:p>
            <a:r>
              <a:rPr lang="en-US" sz="1800" dirty="0">
                <a:solidFill>
                  <a:schemeClr val="bg1">
                    <a:lumMod val="25000"/>
                  </a:schemeClr>
                </a:solidFill>
              </a:rPr>
              <a:t>      (e.g., 1/10 questions completed)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25000"/>
                  </a:schemeClr>
                </a:solidFill>
              </a:rPr>
              <a:t>Engaging UI with a Submit Answer and End Quiz button.</a:t>
            </a:r>
            <a:endParaRPr lang="en-IN" sz="1800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BB5361-7110-2F74-C5CD-9BE593B7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62940"/>
            <a:ext cx="4923472" cy="738900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Leaderboard &amp; User Engagement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0E92AE3E-BAC7-B431-0F59-6128B3DE6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8" b="16148"/>
          <a:stretch/>
        </p:blipFill>
        <p:spPr>
          <a:xfrm>
            <a:off x="5746432" y="662940"/>
            <a:ext cx="2314575" cy="422148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B09F096-A90F-393B-84A2-CB79299CC783}"/>
              </a:ext>
            </a:extLst>
          </p:cNvPr>
          <p:cNvSpPr txBox="1"/>
          <p:nvPr/>
        </p:nvSpPr>
        <p:spPr>
          <a:xfrm>
            <a:off x="617220" y="2034540"/>
            <a:ext cx="48472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Encourages healthy competition among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Displays top-performing users based on quiz scores.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Motivates learners to improve through gamification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Enhances engagement by rewarding consistent learning.</a:t>
            </a:r>
            <a:endParaRPr lang="en-IN" sz="1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124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31214F-DB1B-5645-F96D-999177A26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9955" y="857906"/>
            <a:ext cx="4747261" cy="738900"/>
          </a:xfrm>
        </p:spPr>
        <p:txBody>
          <a:bodyPr/>
          <a:lstStyle/>
          <a:p>
            <a:r>
              <a:rPr lang="en-IN" sz="3200" dirty="0"/>
              <a:t> </a:t>
            </a:r>
            <a:r>
              <a:rPr lang="en-IN" sz="3200" dirty="0">
                <a:solidFill>
                  <a:schemeClr val="tx2">
                    <a:lumMod val="75000"/>
                  </a:schemeClr>
                </a:solidFill>
              </a:rPr>
              <a:t>Interactive Flashcards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DB762B4B-75A8-E921-A766-E4D528BF8E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40" b="18801"/>
          <a:stretch/>
        </p:blipFill>
        <p:spPr>
          <a:xfrm>
            <a:off x="1181100" y="605417"/>
            <a:ext cx="2314575" cy="393266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7BAC8BA-E26D-53DE-C04B-F73A8BA2159C}"/>
              </a:ext>
            </a:extLst>
          </p:cNvPr>
          <p:cNvSpPr txBox="1"/>
          <p:nvPr/>
        </p:nvSpPr>
        <p:spPr>
          <a:xfrm>
            <a:off x="3680460" y="1607820"/>
            <a:ext cx="4282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Simplifies learning with bite-sized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Helps users quickly revise key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Engages learners through an interactive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Boosts memory retention with an easy flip-through format.</a:t>
            </a:r>
            <a:endParaRPr lang="en-IN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529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940326" flipH="1">
            <a:off x="2884550" y="2706713"/>
            <a:ext cx="684576" cy="58809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4"/>
          <p:cNvSpPr/>
          <p:nvPr/>
        </p:nvSpPr>
        <p:spPr>
          <a:xfrm>
            <a:off x="4635363" y="1519823"/>
            <a:ext cx="1073100" cy="930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1109825" y="1519823"/>
            <a:ext cx="1073100" cy="930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3030065" y="3000762"/>
            <a:ext cx="1073100" cy="930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Fun Learn Games</a:t>
            </a:r>
            <a:endParaRPr dirty="0"/>
          </a:p>
        </p:txBody>
      </p:sp>
      <p:sp>
        <p:nvSpPr>
          <p:cNvPr id="356" name="Google Shape;356;p34"/>
          <p:cNvSpPr txBox="1">
            <a:spLocks noGrp="1"/>
          </p:cNvSpPr>
          <p:nvPr>
            <p:ph type="title" idx="2"/>
          </p:nvPr>
        </p:nvSpPr>
        <p:spPr>
          <a:xfrm>
            <a:off x="2262575" y="1713436"/>
            <a:ext cx="2246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75000"/>
                  </a:schemeClr>
                </a:solidFill>
              </a:rPr>
              <a:t>Code Runner 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8" name="Google Shape;358;p34"/>
          <p:cNvSpPr txBox="1">
            <a:spLocks noGrp="1"/>
          </p:cNvSpPr>
          <p:nvPr>
            <p:ph type="title" idx="3"/>
          </p:nvPr>
        </p:nvSpPr>
        <p:spPr>
          <a:xfrm>
            <a:off x="5788075" y="1730656"/>
            <a:ext cx="2246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Scramble On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0" name="Google Shape;360;p34"/>
          <p:cNvSpPr txBox="1">
            <a:spLocks noGrp="1"/>
          </p:cNvSpPr>
          <p:nvPr>
            <p:ph type="title" idx="5"/>
          </p:nvPr>
        </p:nvSpPr>
        <p:spPr>
          <a:xfrm>
            <a:off x="4160397" y="3201912"/>
            <a:ext cx="289517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Coding Combat 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64" name="Google Shape;3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58586">
            <a:off x="8157723" y="3305544"/>
            <a:ext cx="603699" cy="51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4"/>
          <p:cNvSpPr txBox="1">
            <a:spLocks noGrp="1"/>
          </p:cNvSpPr>
          <p:nvPr>
            <p:ph type="title" idx="13"/>
          </p:nvPr>
        </p:nvSpPr>
        <p:spPr>
          <a:xfrm>
            <a:off x="4705563" y="1677473"/>
            <a:ext cx="932700" cy="6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6" name="Google Shape;366;p34"/>
          <p:cNvSpPr txBox="1">
            <a:spLocks noGrp="1"/>
          </p:cNvSpPr>
          <p:nvPr>
            <p:ph type="title" idx="14"/>
          </p:nvPr>
        </p:nvSpPr>
        <p:spPr>
          <a:xfrm>
            <a:off x="3087297" y="3182161"/>
            <a:ext cx="932700" cy="6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68" name="Google Shape;368;p34"/>
          <p:cNvSpPr txBox="1">
            <a:spLocks noGrp="1"/>
          </p:cNvSpPr>
          <p:nvPr>
            <p:ph type="title" idx="9"/>
          </p:nvPr>
        </p:nvSpPr>
        <p:spPr>
          <a:xfrm>
            <a:off x="1179425" y="1677023"/>
            <a:ext cx="9339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69" name="Google Shape;36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08">
            <a:off x="1514271" y="1110598"/>
            <a:ext cx="716007" cy="618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566779" flipH="1">
            <a:off x="7710080" y="1453429"/>
            <a:ext cx="508991" cy="437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3641417" y="2715746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4604917" y="3411196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2553721" y="4684688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5353538" y="92740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079124" y="2930125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8493322" y="4357656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163437-7BFD-F4F5-8E11-DA906A513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74" y="308482"/>
            <a:ext cx="2380746" cy="1183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2827746-8767-2CFF-12ED-CB7A76FDD40A}"/>
              </a:ext>
            </a:extLst>
          </p:cNvPr>
          <p:cNvSpPr txBox="1"/>
          <p:nvPr/>
        </p:nvSpPr>
        <p:spPr>
          <a:xfrm>
            <a:off x="716280" y="669176"/>
            <a:ext cx="2186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Code Runner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Lor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31B06AD-58AA-A2D6-E098-E0B1359A40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93" b="9482"/>
          <a:stretch/>
        </p:blipFill>
        <p:spPr>
          <a:xfrm>
            <a:off x="3044456" y="393293"/>
            <a:ext cx="2314575" cy="44196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0807344-C690-7AC9-2B8A-448622D051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997" b="8077"/>
          <a:stretch/>
        </p:blipFill>
        <p:spPr>
          <a:xfrm>
            <a:off x="5601652" y="393293"/>
            <a:ext cx="2314575" cy="44196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DE4E1AA-1C45-87B3-4FBE-C3AA32F5D6B6}"/>
              </a:ext>
            </a:extLst>
          </p:cNvPr>
          <p:cNvSpPr txBox="1"/>
          <p:nvPr/>
        </p:nvSpPr>
        <p:spPr>
          <a:xfrm>
            <a:off x="568650" y="1676400"/>
            <a:ext cx="2233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Lora" pitchFamily="2" charset="0"/>
              </a:rPr>
              <a:t>Running dinosaurs avoids obstacles but once collided it pops up a question that needs to be solved to continue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Lora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>
          <a:extLst>
            <a:ext uri="{FF2B5EF4-FFF2-40B4-BE49-F238E27FC236}">
              <a16:creationId xmlns:a16="http://schemas.microsoft.com/office/drawing/2014/main" xmlns="" id="{8E08CDAD-53CD-55CB-9FDB-E3A660CB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39">
            <a:extLst>
              <a:ext uri="{FF2B5EF4-FFF2-40B4-BE49-F238E27FC236}">
                <a16:creationId xmlns:a16="http://schemas.microsoft.com/office/drawing/2014/main" xmlns="" id="{1A1C2728-B6F9-9F5F-B438-CA56102829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8909563" y="3324330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9">
            <a:extLst>
              <a:ext uri="{FF2B5EF4-FFF2-40B4-BE49-F238E27FC236}">
                <a16:creationId xmlns:a16="http://schemas.microsoft.com/office/drawing/2014/main" xmlns="" id="{E0E5C8C7-0CE7-F5C8-C0BF-3E656591C9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939401" y="4196056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9">
            <a:extLst>
              <a:ext uri="{FF2B5EF4-FFF2-40B4-BE49-F238E27FC236}">
                <a16:creationId xmlns:a16="http://schemas.microsoft.com/office/drawing/2014/main" xmlns="" id="{4EAEC054-8BF9-B91C-69C8-4F39AB7329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2640896" y="4303310"/>
            <a:ext cx="52464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9">
            <a:extLst>
              <a:ext uri="{FF2B5EF4-FFF2-40B4-BE49-F238E27FC236}">
                <a16:creationId xmlns:a16="http://schemas.microsoft.com/office/drawing/2014/main" xmlns="" id="{FE79C510-007E-B09B-E5C2-22D4CA10F8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7601438" y="376157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9">
            <a:extLst>
              <a:ext uri="{FF2B5EF4-FFF2-40B4-BE49-F238E27FC236}">
                <a16:creationId xmlns:a16="http://schemas.microsoft.com/office/drawing/2014/main" xmlns="" id="{25513370-7612-4DBB-4417-FF46F27A7C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946338" y="2677327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9">
            <a:extLst>
              <a:ext uri="{FF2B5EF4-FFF2-40B4-BE49-F238E27FC236}">
                <a16:creationId xmlns:a16="http://schemas.microsoft.com/office/drawing/2014/main" xmlns="" id="{8805D7A3-7C98-31D9-C6A5-20537304F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8255500" y="4523088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9752B2D-2A31-00E1-4E6D-640547A69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74" y="308482"/>
            <a:ext cx="2380746" cy="1183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792045-C1B9-B75A-9FAF-3B6DE04FE7B9}"/>
              </a:ext>
            </a:extLst>
          </p:cNvPr>
          <p:cNvSpPr txBox="1"/>
          <p:nvPr/>
        </p:nvSpPr>
        <p:spPr>
          <a:xfrm>
            <a:off x="716280" y="669176"/>
            <a:ext cx="2186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Scramble On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Lor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5E90252-A882-B0FC-55BB-9CD7B39C96DC}"/>
              </a:ext>
            </a:extLst>
          </p:cNvPr>
          <p:cNvSpPr txBox="1"/>
          <p:nvPr/>
        </p:nvSpPr>
        <p:spPr>
          <a:xfrm>
            <a:off x="716280" y="1833086"/>
            <a:ext cx="2865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Lora" pitchFamily="2" charset="0"/>
              </a:rPr>
              <a:t>Scramble game which will show a scrambled code and you need to adjust it correctly to pass the level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Lor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7A29A53-3A60-3F82-96CB-B22B716743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99" b="2667"/>
          <a:stretch/>
        </p:blipFill>
        <p:spPr>
          <a:xfrm>
            <a:off x="4055582" y="308482"/>
            <a:ext cx="2314575" cy="46978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57A29A53-3A60-3F82-96CB-B22B716743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99" b="2667"/>
          <a:stretch/>
        </p:blipFill>
        <p:spPr>
          <a:xfrm>
            <a:off x="5154982" y="571985"/>
            <a:ext cx="778009" cy="14620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947" y="263504"/>
            <a:ext cx="2305209" cy="4742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625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>
          <a:extLst>
            <a:ext uri="{FF2B5EF4-FFF2-40B4-BE49-F238E27FC236}">
              <a16:creationId xmlns:a16="http://schemas.microsoft.com/office/drawing/2014/main" xmlns="" id="{1967D8EB-CEEE-1967-6A3E-FC2B8C2D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39">
            <a:extLst>
              <a:ext uri="{FF2B5EF4-FFF2-40B4-BE49-F238E27FC236}">
                <a16:creationId xmlns:a16="http://schemas.microsoft.com/office/drawing/2014/main" xmlns="" id="{CA01FDA4-B7D0-AD5E-6453-713B475885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1378823" y="4133065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9">
            <a:extLst>
              <a:ext uri="{FF2B5EF4-FFF2-40B4-BE49-F238E27FC236}">
                <a16:creationId xmlns:a16="http://schemas.microsoft.com/office/drawing/2014/main" xmlns="" id="{09BDB4CF-E3B9-D3FC-8E69-CBD4027129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1137704" y="522294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9">
            <a:extLst>
              <a:ext uri="{FF2B5EF4-FFF2-40B4-BE49-F238E27FC236}">
                <a16:creationId xmlns:a16="http://schemas.microsoft.com/office/drawing/2014/main" xmlns="" id="{18819267-90B4-5F71-2B66-C100AD3CFA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2553721" y="4684688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9">
            <a:extLst>
              <a:ext uri="{FF2B5EF4-FFF2-40B4-BE49-F238E27FC236}">
                <a16:creationId xmlns:a16="http://schemas.microsoft.com/office/drawing/2014/main" xmlns="" id="{519552B7-0704-6913-AFDC-4BDC0F1976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5331308" y="-6320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9">
            <a:extLst>
              <a:ext uri="{FF2B5EF4-FFF2-40B4-BE49-F238E27FC236}">
                <a16:creationId xmlns:a16="http://schemas.microsoft.com/office/drawing/2014/main" xmlns="" id="{B8A19050-2D72-4E36-8647-3440129EB3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079124" y="2930125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9">
            <a:extLst>
              <a:ext uri="{FF2B5EF4-FFF2-40B4-BE49-F238E27FC236}">
                <a16:creationId xmlns:a16="http://schemas.microsoft.com/office/drawing/2014/main" xmlns="" id="{DBC54B88-DDE5-F7A7-6649-D41DBAE14F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8493322" y="4357656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48DCE76-E926-8806-54FA-4F7490FCC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74" y="308482"/>
            <a:ext cx="2380746" cy="1183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8754661-B782-6E7E-F8E4-4B3C92A91D66}"/>
              </a:ext>
            </a:extLst>
          </p:cNvPr>
          <p:cNvSpPr txBox="1"/>
          <p:nvPr/>
        </p:nvSpPr>
        <p:spPr>
          <a:xfrm>
            <a:off x="1021080" y="535091"/>
            <a:ext cx="218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Coding Combat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Lor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5D34C2B-303F-9860-E0F2-C4031E31E5E0}"/>
              </a:ext>
            </a:extLst>
          </p:cNvPr>
          <p:cNvSpPr txBox="1"/>
          <p:nvPr/>
        </p:nvSpPr>
        <p:spPr>
          <a:xfrm>
            <a:off x="568650" y="1676400"/>
            <a:ext cx="22331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Lora" pitchFamily="2" charset="0"/>
              </a:rPr>
              <a:t>Coding Combat allows the user to choose a character and then solve questions and the score increases and decreases depending on whether you answer right and wrong</a:t>
            </a:r>
            <a:endParaRPr lang="en-IN" sz="1600" dirty="0">
              <a:solidFill>
                <a:schemeClr val="tx2">
                  <a:lumMod val="75000"/>
                </a:schemeClr>
              </a:solidFill>
              <a:latin typeface="Lor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3B1685A-3FE6-9C45-3FAB-25269FD30B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98" b="4752"/>
          <a:stretch/>
        </p:blipFill>
        <p:spPr>
          <a:xfrm>
            <a:off x="3084033" y="276457"/>
            <a:ext cx="2314575" cy="459058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774C003-9838-EAA6-931B-B8A165ACD1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997" b="5375"/>
          <a:stretch/>
        </p:blipFill>
        <p:spPr>
          <a:xfrm>
            <a:off x="5601651" y="292469"/>
            <a:ext cx="2314575" cy="455856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554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>
          <a:extLst>
            <a:ext uri="{FF2B5EF4-FFF2-40B4-BE49-F238E27FC236}">
              <a16:creationId xmlns:a16="http://schemas.microsoft.com/office/drawing/2014/main" xmlns="" id="{6C761A94-E60B-416B-CC92-6EDDDD77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39">
            <a:extLst>
              <a:ext uri="{FF2B5EF4-FFF2-40B4-BE49-F238E27FC236}">
                <a16:creationId xmlns:a16="http://schemas.microsoft.com/office/drawing/2014/main" xmlns="" id="{6BBD5653-4C7E-788C-5D04-EB430E0077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3149972" y="112653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9">
            <a:extLst>
              <a:ext uri="{FF2B5EF4-FFF2-40B4-BE49-F238E27FC236}">
                <a16:creationId xmlns:a16="http://schemas.microsoft.com/office/drawing/2014/main" xmlns="" id="{F183D7DE-A2B1-5190-E094-E5E0B1D605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7812376" y="722212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9">
            <a:extLst>
              <a:ext uri="{FF2B5EF4-FFF2-40B4-BE49-F238E27FC236}">
                <a16:creationId xmlns:a16="http://schemas.microsoft.com/office/drawing/2014/main" xmlns="" id="{BBEF25EA-4490-82E4-77B7-546C98AA80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5817391" y="335479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9">
            <a:extLst>
              <a:ext uri="{FF2B5EF4-FFF2-40B4-BE49-F238E27FC236}">
                <a16:creationId xmlns:a16="http://schemas.microsoft.com/office/drawing/2014/main" xmlns="" id="{8764E227-A304-7E35-4175-4C001CBDB7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5244300" y="4398194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9">
            <a:extLst>
              <a:ext uri="{FF2B5EF4-FFF2-40B4-BE49-F238E27FC236}">
                <a16:creationId xmlns:a16="http://schemas.microsoft.com/office/drawing/2014/main" xmlns="" id="{0739CE68-B0EF-0976-0A08-BAA14AEACF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918178" y="3402565"/>
            <a:ext cx="496226" cy="428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9">
            <a:extLst>
              <a:ext uri="{FF2B5EF4-FFF2-40B4-BE49-F238E27FC236}">
                <a16:creationId xmlns:a16="http://schemas.microsoft.com/office/drawing/2014/main" xmlns="" id="{094E3FFF-1429-B1BD-ED89-6725F2FA37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099951">
            <a:off x="8493322" y="4357656"/>
            <a:ext cx="496226" cy="4287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877DBC7-ED70-C894-F98A-C8EA5630ED3F}"/>
              </a:ext>
            </a:extLst>
          </p:cNvPr>
          <p:cNvSpPr txBox="1"/>
          <p:nvPr/>
        </p:nvSpPr>
        <p:spPr>
          <a:xfrm>
            <a:off x="5738473" y="1317522"/>
            <a:ext cx="5852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Complier </a:t>
            </a:r>
          </a:p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Lora" pitchFamily="2" charset="0"/>
              </a:rPr>
              <a:t>&amp; Outputs 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Lor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125CFE7-BFAA-02DA-BBD5-A72DE17699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32" b="19679"/>
          <a:stretch/>
        </p:blipFill>
        <p:spPr>
          <a:xfrm>
            <a:off x="3251364" y="549858"/>
            <a:ext cx="2314575" cy="39084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526CAB1-866D-6210-7241-DF0916E2D3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29" b="2667"/>
          <a:stretch/>
        </p:blipFill>
        <p:spPr>
          <a:xfrm>
            <a:off x="756479" y="222826"/>
            <a:ext cx="2314575" cy="47167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389F861-ED3F-ED13-8101-8229FFFF204D}"/>
              </a:ext>
            </a:extLst>
          </p:cNvPr>
          <p:cNvSpPr txBox="1"/>
          <p:nvPr/>
        </p:nvSpPr>
        <p:spPr>
          <a:xfrm>
            <a:off x="5814060" y="2571750"/>
            <a:ext cx="23145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Lora" pitchFamily="2" charset="0"/>
              </a:rPr>
              <a:t>Compiler module consists of multi- language compiler which allows you to run basic codes of the languages we learn in the app</a:t>
            </a:r>
            <a:endParaRPr lang="en-IN" dirty="0">
              <a:solidFill>
                <a:schemeClr val="tx2">
                  <a:lumMod val="75000"/>
                </a:schemeClr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39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6"/>
          <p:cNvSpPr txBox="1">
            <a:spLocks noGrp="1"/>
          </p:cNvSpPr>
          <p:nvPr>
            <p:ph type="title"/>
          </p:nvPr>
        </p:nvSpPr>
        <p:spPr>
          <a:xfrm>
            <a:off x="2108202" y="1873089"/>
            <a:ext cx="4927500" cy="9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pic>
        <p:nvPicPr>
          <p:cNvPr id="637" name="Google Shape;6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290170">
            <a:off x="7643217" y="3669530"/>
            <a:ext cx="538413" cy="465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7213098" y="2278303"/>
            <a:ext cx="683250" cy="586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507313" flipH="1">
            <a:off x="429423" y="3184912"/>
            <a:ext cx="886802" cy="80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94752" y="4604112"/>
            <a:ext cx="211293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336279">
            <a:off x="7815235" y="1544859"/>
            <a:ext cx="379381" cy="346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290157">
            <a:off x="1381680" y="1441829"/>
            <a:ext cx="639417" cy="5524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F66B747-C281-5F41-1D55-FA556764DA72}"/>
              </a:ext>
            </a:extLst>
          </p:cNvPr>
          <p:cNvSpPr/>
          <p:nvPr/>
        </p:nvSpPr>
        <p:spPr>
          <a:xfrm>
            <a:off x="1790700" y="3695700"/>
            <a:ext cx="5608320" cy="5313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esthetic Elegant Leaves Company Profile by Slidesgo">
  <a:themeElements>
    <a:clrScheme name="Simple Light">
      <a:dk1>
        <a:srgbClr val="32362F"/>
      </a:dk1>
      <a:lt1>
        <a:srgbClr val="F6F8EF"/>
      </a:lt1>
      <a:dk2>
        <a:srgbClr val="B2DE74"/>
      </a:dk2>
      <a:lt2>
        <a:srgbClr val="6CA339"/>
      </a:lt2>
      <a:accent1>
        <a:srgbClr val="477020"/>
      </a:accent1>
      <a:accent2>
        <a:srgbClr val="E2E5D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74D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374</Words>
  <Application>Microsoft Office PowerPoint</Application>
  <PresentationFormat>On-screen Show (16:9)</PresentationFormat>
  <Paragraphs>68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Lora</vt:lpstr>
      <vt:lpstr>Open Sans Medium</vt:lpstr>
      <vt:lpstr>Roboto Serif</vt:lpstr>
      <vt:lpstr>Roboto Serif Medium</vt:lpstr>
      <vt:lpstr>Aesthetic Elegant Leaves Company Profile by Slidesgo</vt:lpstr>
      <vt:lpstr>LANGUAGUE  CREEPER </vt:lpstr>
      <vt:lpstr>Introduction</vt:lpstr>
      <vt:lpstr>Process </vt:lpstr>
      <vt:lpstr>Login &amp; Accessibility Page</vt:lpstr>
      <vt:lpstr>Language Selection Screen</vt:lpstr>
      <vt:lpstr>Main Page  </vt:lpstr>
      <vt:lpstr>Guides </vt:lpstr>
      <vt:lpstr>PowerPoint Presentation</vt:lpstr>
      <vt:lpstr> Quiz Feature</vt:lpstr>
      <vt:lpstr> Leaderboard &amp; User Engagement</vt:lpstr>
      <vt:lpstr> Interactive Flashcards</vt:lpstr>
      <vt:lpstr>Fun Learn Games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LANGUAGUE  CREEPER </dc:title>
  <cp:lastModifiedBy>Windows User</cp:lastModifiedBy>
  <cp:revision>3</cp:revision>
  <dcterms:modified xsi:type="dcterms:W3CDTF">2025-02-27T19:53:42Z</dcterms:modified>
</cp:coreProperties>
</file>